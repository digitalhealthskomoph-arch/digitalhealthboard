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(ร่าง) เสนอเพื่อพิจารณาให้ความเห็นชอบกรอบแผน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แผนยุทธศาสตร์สุขภาพดิจิทัล</a:t>
            </a:r>
            <a:endParaRPr lang="en-US" sz="52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จังหวัดสระแก้ว พ.ศ. 2570–2572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DEDE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"เชื่อมโยง  ปลอดภัย  และประชาชนเข้าถึงได้ ภายในปี 2572"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5394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FD9E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การประชุมคณะกรรมการสุขภาพดิจิทัล จังหวัดสระแก้ว ครั้งที่ 2/2569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FD9E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วันที่ 11 สิงหาคม 2569  •  นำเสนอโดยประธานกรรมการ (ผู้อำนวยการโรงพยาบาลโคกสูง)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ทำไมจังหวัดสระแก้วต้องมีแผนฉบับนี้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ฐานอำนาจ: คำสั่ง สสจ.สระแก้ว ที่ 224/2568 ข้อ 2.2.2 — คณะกรรมการฯ มีหน้าที่กำหนดกรอบ ยุทธศาสตร์ แผนงาน และมาตรฐานด้านสุขภาพดิจิทัลของจังหวัด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EAF6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ยังไม่มีแผนระดับจังหวัด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การดำเนินงานที่ผ่านมาเป็นรายโครงการ/รายตัวชี้วัด ขาดทิศทางร่วมของทั้งเครือข่าย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EA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2402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กลไกกำกับยังไม่ครบรอบ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ปี 2569 ประชุมคณะกรรมการฯ 2 ครั้ง ขณะที่คำสั่งข้อ 2.2.12 กำหนดให้รายงานรายไตรมาส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EA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2402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ความเสี่ยงเพิ่มขึ้นทุกปี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ภัยไซเบอร์ต่อโรงพยาบาล, PDPA, การ Migrate ระบบ รพ.สต. — ต้องมีกรอบกำกับที่ตรวจสอบได้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แผนฉบับนี้ = ผลงานตามหน้าที่ของคณะกรรมการฯ โดยตรง และเป็นเครื่องมือกำกับ ติดตาม รายงานรายไตรมาสได้จริง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สอดคล้องกับสิ่งที่กระทรวงขับเคลื่อนและวัดจริง ปี 2569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นโยบายสุขภาพดิจิทัล 2569 (สำนักสุขภาพดิจิทัล สป.สธ.) — 6 ตัวขับเคลื่อน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นัดหมายออนไลน์ทั่วประเทศ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63240" y="160020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SuperApp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77840" y="160020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MOPH HIS Connect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Imaging Hub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63240" y="219456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Chest X-ray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77840" y="219456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Smart Hospital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7178040" cy="1965960"/>
          </a:xfrm>
          <a:prstGeom prst="roundRect">
            <a:avLst>
              <a:gd name="adj" fmla="val 4651"/>
            </a:avLst>
          </a:prstGeom>
          <a:solidFill>
            <a:srgbClr val="EAF6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ตัวชี้วัดตรวจราชการ สธ. ปี 2569 ที่เข้าอำนาจหน้าที่เราโดยตรง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 25  หน่วยงานผ่านเกณฑ์ความมั่นคงปลอดภัยไซเบอร์ระดับสูง (CTAM+) — เป้า 100%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 27  Total Performance Score (TPS) — ต้องอาศัยคุณภาพข้อมูลจากระบบของเรา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0" y="306324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05445E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32918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เขตสุขภาพที่ 6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อยู่กลุ่มนำของประเทศ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ด้านนัดหมายออนไลน์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83880" y="4315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คำถามของจังหวัด: สระแก้วอยู่ตรงไหน หน่วยใดยังไม่ครบเกณฑ์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ยุทธศาสตร์สุขภาพดิจิทัลกระทรวงฉบับเล่ม (2564–2568) สิ้นสุดแล้ว — แผนจังหวัดฉบับนี้จึงออกแบบให้เกาะนโยบายรายปี + ตัวชี้วัดตรวจราชการโดยตรง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จุดตั้งต้นของเรา (Baseline ณ ปี 2569)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6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990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 รพ.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ผ่าน Smart Hospital ระดับเพชร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43400" y="12344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3990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89%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รพ. เปิดนัดหมายออนไลน์ ≥ 4 คลินิก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138160" y="12344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6F6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3990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5.7%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366760" y="2286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ผู้ป่วยนอกได้รับบริการ Telemedicine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6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021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 แห่ง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77240" y="4389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ผ่านเกณฑ์ไซเบอร์ CTAM+ (รอยืนยันตัวส่วน)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43400" y="33375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6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5021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 เรื่อง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0" y="4389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นวัตกรรมดิจิทัล/AI แลกเปลี่ยนปี 2569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138160" y="33375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F6F6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35021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504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 ครั้ง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366760" y="4389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การประชุมคณะกรรมการฯ ปี 2569 (เป้า 4)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จุดที่ยังว่าง: อุปกรณ์ IoT ของ อสม. / เกณฑ์สมรรถนะดิจิทัลบุคลากร — ยังไม่มีข้อมูลหรือยังไม่มีเกณฑ์วัด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วิสัยทัศน์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"ระบบสุขภาพดิจิทัลสระแก้วที่เชื่อมโยง ปลอดภัย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และประชาชนเข้าถึงได้ ภายในปี 2572"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0A557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O1 บูรณาการข้อมูล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EBE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คลังข้อมูลกลาง สุขภาพ+บริหาร ครบถ้วน มี Dashboard ใช้จริง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306324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0A5570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32918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O2 บริการดิจิทัล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17520" y="429768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EBE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ประชาชนเข้าถึงเร็ว ลดรอคอย ลดเดินทาง ไม่ทิ้งใครไว้ข้างหลัง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306324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0A5570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2918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O3 มั่นคงปลอดภัย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03520" y="429768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EBE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ผ่านมาตรฐานไซเบอร์/PDPA — ศูนย์เหตุการณ์ร้ายแรง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306324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0A5570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2918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O4 กำลังคน+นวัตกรรม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89520" y="429768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EBE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ทักษะดิจิทัลผ่านเกณฑ์ ใช้ AI ลดภาระงานจริง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92640" y="306324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0A5570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0" y="32918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O5 ธรรมาภิบาลขับเคลื่อน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875520" y="429768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EBE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กำกับติดตามโปร่งใส ผ่าน Tracking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5C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ค่าเป้าหมายเชิงตัวเลขทุกตัว = ข้อเสนอเบื้องต้น รอรับรองหลังทำ target-setting จาก baseline (มติที่เสนอข้อ 2)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 ยุทธศาสตร์ — ครอบคลุมหน้าที่คณะกรรมการฯ ครบ 13 ข้อ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EAF6F6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3807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380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2527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การเชื่อมโยงและบูรณาการข้อมูลองค์กร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537960" y="12527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 Warehouse จังหวัด • Dashboard/MIS • AI Predictive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332720" y="125272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 2.2.3–2.2.4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41401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บริการสุขภาพดิจิทัลเพื่อประชาชน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537960" y="2286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Smart Hospital • Telemedicine • นัดออนไลน์ • Smart Health Station • รพ.สต.อัจฉริยะ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332720" y="22860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 2.2.5, 2.2.8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EAF6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447288"/>
            <a:ext cx="502920" cy="502920"/>
          </a:xfrm>
          <a:prstGeom prst="ellipse">
            <a:avLst/>
          </a:prstGeom>
          <a:solidFill>
            <a:srgbClr val="05445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31927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ธรรมาภิบาลข้อมูล ความมั่นคงปลอดภัย และ PDPA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537960" y="331927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CTAM+ • BCP/DRP • Internal Audit • Data Sharing Policy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332720" y="331927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 2.2.7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88536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44805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63040" y="435254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กำลังคนดิจิทัล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6537960" y="435254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ทีม Digital Professional • Digital Literacy สหวิชาชีพ • นวัตกรรมลดภาระงาน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332720" y="435254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 2.2.9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321808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EAF6F6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" y="551383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5513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463040" y="538581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ธรรมาภิบาลการขับเคลื่อนและภาคีเครือข่าย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6537960" y="538581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ประชุมรายไตรมาส • Resolution Tracker • รายงาน นพ.สสจ. • Tracking Dashboard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332720" y="5385816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 2.2.1–2, 2.2.6, 2.2.10–13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รายละเอียดมาตรการและตัวชี้วัดรายยุทธศาสตร์ — ตามเอกสารแผนฉบับร่าง 1.1 ที่แจกในที่ประชุม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เป้าหมายสำคัญที่ประชาชนจับต้องได้ (ยุทธศาสตร์ 1–2)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120640" cy="658368"/>
          </a:xfrm>
          <a:prstGeom prst="rect">
            <a:avLst/>
          </a:prstGeom>
          <a:solidFill>
            <a:srgbClr val="0544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344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ตัวชี้วัดเด่น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0" y="1234440"/>
            <a:ext cx="1737360" cy="658368"/>
          </a:xfrm>
          <a:prstGeom prst="rect">
            <a:avLst/>
          </a:prstGeom>
          <a:solidFill>
            <a:srgbClr val="0544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79008" y="12344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 2569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640" y="1234440"/>
            <a:ext cx="1737360" cy="658368"/>
          </a:xfrm>
          <a:prstGeom prst="rect">
            <a:avLst/>
          </a:prstGeom>
          <a:solidFill>
            <a:srgbClr val="0544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16368" y="12344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ปี 2570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1234440"/>
            <a:ext cx="2468880" cy="658368"/>
          </a:xfrm>
          <a:prstGeom prst="rect">
            <a:avLst/>
          </a:prstGeom>
          <a:solidFill>
            <a:srgbClr val="0544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53728" y="1234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ปี 2572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1947672"/>
            <a:ext cx="512064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94767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หน่วยบริการเชื่อมข้อมูลสุขภาพเข้าคลังข้อมูลกลาง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669280" y="1947672"/>
            <a:ext cx="173736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9008" y="19476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—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06640" y="1947672"/>
            <a:ext cx="173736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19476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70%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144000" y="1947672"/>
            <a:ext cx="246888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9476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100%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48640" y="2660904"/>
            <a:ext cx="5120640" cy="658368"/>
          </a:xfrm>
          <a:prstGeom prst="rect">
            <a:avLst/>
          </a:prstGeom>
          <a:solidFill>
            <a:srgbClr val="F7FB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66090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Dashboard ผู้บริหารที่ใช้งานจริง (โมดูลสะสม)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669280" y="2660904"/>
            <a:ext cx="1737360" cy="658368"/>
          </a:xfrm>
          <a:prstGeom prst="rect">
            <a:avLst/>
          </a:prstGeom>
          <a:solidFill>
            <a:srgbClr val="F7FB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26609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Plan-D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06640" y="2660904"/>
            <a:ext cx="1737360" cy="658368"/>
          </a:xfrm>
          <a:prstGeom prst="rect">
            <a:avLst/>
          </a:prstGeom>
          <a:solidFill>
            <a:srgbClr val="F7FB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26609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0" y="2660904"/>
            <a:ext cx="2468880" cy="658368"/>
          </a:xfrm>
          <a:prstGeom prst="rect">
            <a:avLst/>
          </a:prstGeom>
          <a:solidFill>
            <a:srgbClr val="F7FB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3728" y="26609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548640" y="3374136"/>
            <a:ext cx="512064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3741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รพ. ผ่าน Smart Hospital ระดับเพชร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5669280" y="3374136"/>
            <a:ext cx="173736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337413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 รพ.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406640" y="3374136"/>
            <a:ext cx="173736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6368" y="337413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100%*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9144000" y="3374136"/>
            <a:ext cx="246888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3728" y="33741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100%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548640" y="4087368"/>
            <a:ext cx="5120640" cy="658368"/>
          </a:xfrm>
          <a:prstGeom prst="rect">
            <a:avLst/>
          </a:prstGeom>
          <a:solidFill>
            <a:srgbClr val="F7FB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0873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ผู้ป่วยนอกได้รับบริการ Telemedicine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5669280" y="4087368"/>
            <a:ext cx="1737360" cy="658368"/>
          </a:xfrm>
          <a:prstGeom prst="rect">
            <a:avLst/>
          </a:prstGeom>
          <a:solidFill>
            <a:srgbClr val="F7FB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9008" y="408736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5.7%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7406640" y="4087368"/>
            <a:ext cx="1737360" cy="658368"/>
          </a:xfrm>
          <a:prstGeom prst="rect">
            <a:avLst/>
          </a:prstGeom>
          <a:solidFill>
            <a:srgbClr val="F7FB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16368" y="408736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10%*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9144000" y="4087368"/>
            <a:ext cx="2468880" cy="658368"/>
          </a:xfrm>
          <a:prstGeom prst="rect">
            <a:avLst/>
          </a:prstGeom>
          <a:solidFill>
            <a:srgbClr val="F7FB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53728" y="40873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30%*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548640" y="4800600"/>
            <a:ext cx="512064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8006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รพ. เปิดนัดหมายออนไลน์ครบ ≥ 4 คลินิก + มีการนัดจริง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5669280" y="4800600"/>
            <a:ext cx="173736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79008" y="48006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89%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7406640" y="4800600"/>
            <a:ext cx="173736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16368" y="48006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100%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9144000" y="4800600"/>
            <a:ext cx="2468880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53728" y="48006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ขยายคลินิกเฉพาะทาง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8504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* เครื่องหมายดอกจัน = เป้าที่ประธานเสนอให้ทบทวนก่อนล็อกตัวเลข (ดูสไลด์ "ข้อสังเกตของประธาน")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ฐานความปลอดภัยและกลไกขับเคลื่อน (ยุทธศาสตร์ 3–5)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7FBFB"/>
          </a:solidFill>
          <a:ln w="19050">
            <a:solidFill>
              <a:srgbClr val="0544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ยุทธ 3 — ปลอดภัย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210312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CTAM+ ระดับสูง 100% (ตามเป้ากระทรวง ตัวชี้วัดข้อ 25)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ซ้อม BCP/DRP ทุกหน่วย ≥ ปีละ 1 ครั้ง พร้อมหลักฐาน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Internal Audit ไซเบอร์/PDPA เป็นระบบทุกปี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Zero Critical Incident ตลอด 3 ปี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23444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7FBFB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9432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ยุทธ 4 — กำลังคน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99432" y="210312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สร้างทีม Digital Professional + กลไกรักษาคนไว้กับองค์กร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เกณฑ์สมรรถนะดิจิทัล (ต้องสร้างเกณฑ์ก่อนใน Q1/2570)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นวัตกรรม/AI ลดภาระงาน ≥ 1 โครงการ/หน่วย ในปีแรก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8160" y="123444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7FBFB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94192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ยุทธ 5 — ธรรมาภิบาล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94192" y="210312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ประชุมรายไตรมาส 4 ครั้ง/ปี ปฏิทินล่วงหน้าทั้งปี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Resolution Tracker — ทุกมติมีเจ้าภาพ+กำหนดเสร็จ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 นพ.สสจ. ภายใน 15 วันหลังประชุม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Digital Strategy Tracking Dashboard แทนรายงานกระดาษ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แผนปฏิบัติการปี 2570 — เรียงตามรอบประชุมรายไตรมาส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81328"/>
            <a:ext cx="10698480" cy="0"/>
          </a:xfrm>
          <a:prstGeom prst="line">
            <a:avLst/>
          </a:prstGeom>
          <a:noFill/>
          <a:ln w="25400">
            <a:solidFill>
              <a:srgbClr val="C9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1673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Q1 (ต.ค.–ธ.ค. 69)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487168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สำรวจ HIS + ทะเบียนระบบทั้งจังหวัด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อบรมไซเบอร์/PDPA + สร้างเกณฑ์สมรรถนะ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ประชุมคณะฯ 1/2570 (ธ.ค.) รับรองเป้าหมาย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31673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Q2 (ม.ค.–มี.ค. 70)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4FAFA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2487168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ประกาศมาตรฐานชุดข้อมูลกลางจังหวัด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Gap Closure Plan สู่ Smart Hospital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ซ้อม BCP/DRP + Audit กลุ่ม CII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ประชุมคณะฯ (มี.ค.)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316736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Q3 (เม.ย.–มิ.ย. 70)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EAF6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2487168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 Dashboard ผู้บริหาร เวอร์ชันแรก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เริ่ม Smart Health Station / รพ.สต.อัจฉริยะ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ประชุมคณะฯ (มิ.ย.)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98280" y="1316736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Q4 (ก.ค.–ก.ย. 70)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52560" y="228600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4FAFA"/>
          </a:solidFill>
          <a:ln/>
        </p:spPr>
      </p:sp>
      <p:sp>
        <p:nvSpPr>
          <p:cNvPr id="19" name="Text 17"/>
          <p:cNvSpPr/>
          <p:nvPr/>
        </p:nvSpPr>
        <p:spPr>
          <a:xfrm>
            <a:off x="9253728" y="2487168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ขยาย Telemedicine + IoT อสม.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สรุปผลนวัตกรรม/AI ลดภาระงาน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ทบทวน Risk Register + แผนปี 2571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ประชุมคณะฯ (ก.ย.)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กิจกรรมที่ต้องสั่งการข้ามหน่วย → มติคณะกรรมการฯ + เสนอ นพ.สสจ. ออกหนังสือสั่งการ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ข้อสังเกตของประธาน — ก่อนล็อกตัวเลขเป้าหมาย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หลักการ: วันนี้ขอความเห็นชอบ "กรอบ" — ตัวเลขเป้าหมายให้ยืนยันจาก baseline และงบจริง แล้วรับรองในการประชุม 1/2570 (ธ.ค. 69)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BF3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Telemedicine 30% ของ OPD ปี 2572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ฐานปัจจุบัน 5.7% — ตรวจนิยาม (ครั้ง/คน, รวม รพ.สต.?) และขีดความสามารถก่อนตั้งเป้า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BF3F1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Smart Health Station ครบทุกหมู่บ้าน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2585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ฐานปัจจุบัน = ยังไม่มีระบบเชื่อมโยง และยังไม่มีงบระบุ — เสนอนำร่องรายตำบลก่อน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BF3F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91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IoT อสม. 20→50%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6758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Baseline ยังว่าง และ SWOT ของเราเองระบุ "ภาระบำรุงรักษา" เป็นจุดอ่อน — ผูกเป้ากับแหล่งงบก่อน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BF3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291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CTAM+ "8 แห่ง"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6758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ต้องมีตัวส่วน: 8 จากทั้งหมดกี่หน่วยงาน + รายชื่อหน่วยที่ยังไม่ผ่าน (เป้ากระทรวง 100% ตั้งแต่ปีนี้)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BF3F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09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Internal Audit โดยหน่วยตัวเอง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0932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ขัดหลักความเป็นอิสระ — เสนอปรับเป็น Cross-audit ระดับจังหวัด/จับคู่ตรวจไขว้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46177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BF3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709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Migrate ระบบ รพ.สต. สู่คลาวด์กลาง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50932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ความเสี่ยงใหญ่สุดใน SWOT แต่ยังไม่มีกิจกรรมกำกับ — เสนอเพิ่มเป็นวาระติดตามทุกไตรมาส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ทั้งหมดนี้ไม่ใช่การตัดเป้า แต่คือการทำให้แผน "สอบผ่านได้จริง" และปกป้องความน่าเชื่อถือของคณะกรรมการฯ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มติที่เสนอขอจากที่ประชุมวันนี้ (4 ข้อ)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04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25880" y="123444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EAF6F6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30759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เห็นชอบกรอบแผน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572000" y="130759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เห็นชอบกรอบแผนยุทธศาสตร์สุขภาพดิจิทัล จังหวัดสระแก้ว พ.ศ. 2570–2572 (5 ยุทธศาสตร์ + แผนปฏิบัติการปี 2570)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25880" y="2441448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F4FAFA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มอบหมายยืนยันเป้าหมาย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มอบฝ่ายเลขานุการจัดทำ target-setting worksheet ทุกตัวชี้วัด + เติมงบรายกิจกรรม + ตัวส่วน CTAM+ เสนอรับรองตัวเลขในการประชุม 1/2570 (ธ.ค. 69)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25880" y="3648456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EAF6F6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7216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รับรองปฏิทินประชุม 2570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572000" y="372160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รับรองการประชุมรายไตรมาส 4 ครั้ง: ธ.ค. 69 / มี.ค. 70 / มิ.ย. 70 / ก.ย. 70 พร้อมวาระประจำ 4 หัวข้อทุกครั้ง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11149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111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25880" y="4855464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F4FAFA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492861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544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เส้นทางประกาศใช้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572000" y="4928616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เมื่อปรับแก้ตามมติแล้ว เสนอนายแพทย์สาธารณสุขจังหวัดลงนามประกาศใช้ จึงลง "วันที่บังคับใช้" ในเอกสาร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ผลลัพธ์วันนี้: จังหวัดสระแก้วมีแผนสุขภาพดิจิทัลฉบับแรก + กลไกรายไตรมาสที่ตรวจสอบได้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194560"/>
            <a:ext cx="5120640" cy="512064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ก้าวต่อไปหลังการประชุมวันนี้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A557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0195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ภายใน 15 วัน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90195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6F2F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เวียนรายงานการประชุม + รายงานความก้าวหน้าเสนอ นพ.สสจ.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A557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4495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ภายใน ก.ย. 69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304495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6F2F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ฝ่ายเลขาฯ เติม baseline ที่ค้าง + target-setting worksheet + งบรายกิจกรรม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A557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8795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ธ.ค. 69 (ประชุม 1/2570)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418795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6F2F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รับรองตัวเลขเป้าหมาย → เสนอ นพ.สสจ. ประกาศใช้แผน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2C3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"เชื่อมโยง  ปลอดภัย  และประชาชนเข้าถึงได้"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5C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คณะกรรมการสุขภาพดิจิทัล จังหวัดสระแก้ว  •  11 สิงหาคม 2569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2026-08-10T13:10:15Z</dcterms:created>
  <dcterms:modified xsi:type="dcterms:W3CDTF">2026-08-10T13:10:15Z</dcterms:modified>
</cp:coreProperties>
</file>